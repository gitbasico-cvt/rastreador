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01063" y="357188"/>
            <a:ext cx="285750" cy="857250"/>
          </a:xfrm>
          <a:prstGeom prst="rect">
            <a:avLst/>
          </a:prstGeom>
          <a:solidFill>
            <a:srgbClr val="FF5714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00125" y="494035"/>
            <a:ext cx="7143750" cy="4155430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125391" y="965522"/>
            <a:ext cx="2893219" cy="446484"/>
          </a:xfrm>
          <a:prstGeom prst="rect">
            <a:avLst/>
          </a:prstGeom>
          <a:solidFill>
            <a:srgbClr val="54C6EB"/>
          </a:solidFill>
          <a:ln w="27432">
            <a:solidFill>
              <a:srgbClr val="1E1E24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416" y="1103040"/>
            <a:ext cx="221456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32597" y="1079822"/>
            <a:ext cx="2185988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i="1" spc="1" kern="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GAME CULTURAL SERGIPE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571625" y="1626319"/>
            <a:ext cx="6000750" cy="132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4350" b="1" i="1" dirty="0">
                <a:solidFill>
                  <a:srgbClr val="FF571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COME-COME DO FORRÓ</a:t>
            </a:r>
            <a:endParaRPr lang="en-US" sz="4350" dirty="0"/>
          </a:p>
        </p:txBody>
      </p:sp>
      <p:sp>
        <p:nvSpPr>
          <p:cNvPr id="9" name="Text 5"/>
          <p:cNvSpPr/>
          <p:nvPr/>
        </p:nvSpPr>
        <p:spPr>
          <a:xfrm>
            <a:off x="1714500" y="3189350"/>
            <a:ext cx="5715000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Como conectar a tradição junina de Sergipe às novas gerações através de uma experiência gamificada arretada!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1125810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14375" y="428625"/>
            <a:ext cx="7715250" cy="754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i="1" dirty="0">
                <a:solidFill>
                  <a:srgbClr val="FF571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O PROBLEMA — O TURISTA DIGITAL ESTÁ PASSANDO BATIDO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428625" y="1440135"/>
            <a:ext cx="8286750" cy="977215"/>
          </a:xfrm>
          <a:prstGeom prst="rect">
            <a:avLst/>
          </a:prstGeom>
          <a:solidFill>
            <a:srgbClr val="54C6EB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4375" y="1525860"/>
            <a:ext cx="771525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Sergipe possui uma das festas juninas mais ricas do Brasil, mas enfrenta um paradoxo: enquanto a cultura local transborda identidade, os jovens e turistas digitais passam por ela sem se engajar de verdade.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8625" y="2503075"/>
            <a:ext cx="2666991" cy="2280252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76356" y="2617375"/>
            <a:ext cx="571500" cy="571500"/>
          </a:xfrm>
          <a:prstGeom prst="ellipse">
            <a:avLst/>
          </a:prstGeom>
          <a:solidFill>
            <a:srgbClr val="FF5714"/>
          </a:solidFill>
          <a:ln w="27432">
            <a:solidFill>
              <a:srgbClr val="1E1E2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666" y="2774538"/>
            <a:ext cx="192881" cy="2571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103" y="3274600"/>
            <a:ext cx="2336006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4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Distanciamento Cultural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71500" y="3571763"/>
            <a:ext cx="238124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Jovens e turistas consomem conteúdo rápido e interativo, ignorando materiais tradicionais de divulgação.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238491" y="2503075"/>
            <a:ext cx="2666991" cy="2040238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86222" y="2617375"/>
            <a:ext cx="571500" cy="571500"/>
          </a:xfrm>
          <a:prstGeom prst="ellipse">
            <a:avLst/>
          </a:prstGeom>
          <a:solidFill>
            <a:srgbClr val="FF5714"/>
          </a:solidFill>
          <a:ln w="27432">
            <a:solidFill>
              <a:srgbClr val="1E1E2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385" y="2774538"/>
            <a:ext cx="257175" cy="2571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71860" y="3274600"/>
            <a:ext cx="1800225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4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Ícones Esquecidos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381366" y="3571763"/>
            <a:ext cx="238124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Lendas como Rogério e Clemilda precisam de novos meios digitais para manter seus legados vivos para as próximas gerações.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048356" y="2503075"/>
            <a:ext cx="2667019" cy="1954513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096116" y="2617375"/>
            <a:ext cx="571500" cy="571500"/>
          </a:xfrm>
          <a:prstGeom prst="ellipse">
            <a:avLst/>
          </a:prstGeom>
          <a:solidFill>
            <a:srgbClr val="FF5714"/>
          </a:solidFill>
          <a:ln w="27432">
            <a:solidFill>
              <a:srgbClr val="1E1E24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131" y="2774538"/>
            <a:ext cx="321469" cy="2571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35306" y="3274600"/>
            <a:ext cx="2093119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4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Falta de Engajamento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191231" y="3571763"/>
            <a:ext cx="238126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Ausência de ferramentas lúdicas e interativas nos principais pontos históricos e festivos de Sergipe.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748643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14375" y="428625"/>
            <a:ext cx="77152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i="1" dirty="0">
                <a:solidFill>
                  <a:srgbClr val="FF571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 SOLUÇÃO — COME-COME DO FORRÓ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428625" y="1005818"/>
            <a:ext cx="4760584" cy="3794001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1148693"/>
            <a:ext cx="4440566" cy="3086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800" b="1" i="1" dirty="0">
                <a:solidFill>
                  <a:srgbClr val="54C6EB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 Gamificação da Nossa Tradição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71500" y="1628747"/>
            <a:ext cx="4440566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Inspirado no lendário Pac-Man, o Come-Come do Forró é um jogo arcade onde o jogador percorre labirintos inspirados na Orla de Aracaju e nas festas típicas sergipanas.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1500" y="2777440"/>
            <a:ext cx="4440566" cy="754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O jogador coleta comidas tradicionais — amendoim, milho, canjica — desvia de fogueiras e curte o som dos maiores ícones do estado.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1500" y="3746116"/>
            <a:ext cx="4440566" cy="825103"/>
          </a:xfrm>
          <a:prstGeom prst="rect">
            <a:avLst/>
          </a:prstGeom>
          <a:solidFill>
            <a:srgbClr val="FF5714"/>
          </a:solidFill>
          <a:ln w="27432">
            <a:solidFill>
              <a:srgbClr val="1E1E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" y="3746116"/>
            <a:ext cx="4440566" cy="82510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Uma fusão perfeita de diversão nostálgica e valorização histórica regional, acessível a qualquer geração.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383541" y="1005818"/>
            <a:ext cx="3331834" cy="3651126"/>
          </a:xfrm>
          <a:prstGeom prst="rect">
            <a:avLst/>
          </a:prstGeom>
          <a:solidFill>
            <a:srgbClr val="1E1E24"/>
          </a:solidFill>
          <a:ln w="45720">
            <a:solidFill>
              <a:srgbClr val="54C6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6" y="1148693"/>
            <a:ext cx="9429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SCORE: 9999</a:t>
            </a:r>
            <a:endParaRPr lang="en-US" sz="10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690" y="2097360"/>
            <a:ext cx="642938" cy="8572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09379" y="3097485"/>
            <a:ext cx="1131587" cy="4679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E8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INSERT COIN</a:t>
            </a:r>
            <a:r>
              <a:rPr lang="en-US" sz="1200" b="1" dirty="0">
                <a:solidFill>
                  <a:srgbClr val="A0E8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1200" b="1" dirty="0">
                <a:solidFill>
                  <a:srgbClr val="A0E8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 PLAY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748643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14375" y="428625"/>
            <a:ext cx="77152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i="1" dirty="0">
                <a:solidFill>
                  <a:srgbClr val="FF571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COMO FUNCIONA — A MECÂNICA DO JOGO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428625" y="1062968"/>
            <a:ext cx="8286750" cy="537204"/>
          </a:xfrm>
          <a:prstGeom prst="rect">
            <a:avLst/>
          </a:prstGeom>
          <a:solidFill>
            <a:srgbClr val="1E1E24"/>
          </a:solidFill>
          <a:ln w="45720">
            <a:solidFill>
              <a:srgbClr val="54C6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4375" y="1148693"/>
            <a:ext cx="7715250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i="1" spc="1" kern="0" dirty="0">
                <a:solidFill>
                  <a:srgbClr val="A0E8A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TRÊS ELEMENTOS QUE FAZEM O JOGO ÚNICO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28625" y="1743047"/>
            <a:ext cx="2647931" cy="2450641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8625" y="1743047"/>
            <a:ext cx="2647931" cy="1057610"/>
          </a:xfrm>
          <a:prstGeom prst="rect">
            <a:avLst/>
          </a:prstGeom>
          <a:solidFill>
            <a:srgbClr val="54C6EB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2757794"/>
            <a:ext cx="2647931" cy="42863"/>
          </a:xfrm>
          <a:prstGeom prst="rect">
            <a:avLst/>
          </a:prstGeom>
          <a:solidFill>
            <a:srgbClr val="1E1E2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278" y="1923427"/>
            <a:ext cx="428625" cy="342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8007" y="2409202"/>
            <a:ext cx="1909167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GAMEPLAY NOSTÁLGICO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8625" y="2757794"/>
            <a:ext cx="2647931" cy="14358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600075" y="2929244"/>
            <a:ext cx="230503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Mecânica inspirada no Pac-Man, com labirintos temáticos da Orla de Atalaia e do Arraiá do Povo. Simples de aprender, impossível de largar.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48006" y="1743047"/>
            <a:ext cx="2647959" cy="2450641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248006" y="1743047"/>
            <a:ext cx="2647959" cy="1057610"/>
          </a:xfrm>
          <a:prstGeom prst="rect">
            <a:avLst/>
          </a:prstGeom>
          <a:solidFill>
            <a:srgbClr val="FF5714"/>
          </a:solidFill>
          <a:ln/>
        </p:spPr>
      </p:sp>
      <p:sp>
        <p:nvSpPr>
          <p:cNvPr id="16" name="Shape 12"/>
          <p:cNvSpPr/>
          <p:nvPr/>
        </p:nvSpPr>
        <p:spPr>
          <a:xfrm>
            <a:off x="3248006" y="2757794"/>
            <a:ext cx="2647959" cy="42863"/>
          </a:xfrm>
          <a:prstGeom prst="rect">
            <a:avLst/>
          </a:prstGeom>
          <a:solidFill>
            <a:srgbClr val="1E1E2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091" y="1923427"/>
            <a:ext cx="385763" cy="342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26343" y="2409202"/>
            <a:ext cx="149125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i="1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MAPAS CULTURAIS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248006" y="2757794"/>
            <a:ext cx="2647959" cy="14358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5"/>
          <p:cNvSpPr/>
          <p:nvPr/>
        </p:nvSpPr>
        <p:spPr>
          <a:xfrm>
            <a:off x="3419456" y="2929244"/>
            <a:ext cx="230505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Cada fase representa um ponto turístico ou cultural de Sergipe — do Mercado Municipal à Orla de Atalaia — ensinando enquanto diverte.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067416" y="1743047"/>
            <a:ext cx="2647931" cy="2450641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067416" y="1743047"/>
            <a:ext cx="2647931" cy="1057610"/>
          </a:xfrm>
          <a:prstGeom prst="rect">
            <a:avLst/>
          </a:prstGeom>
          <a:solidFill>
            <a:srgbClr val="A0E8AF"/>
          </a:solidFill>
          <a:ln/>
        </p:spPr>
      </p:sp>
      <p:sp>
        <p:nvSpPr>
          <p:cNvPr id="23" name="Shape 18"/>
          <p:cNvSpPr/>
          <p:nvPr/>
        </p:nvSpPr>
        <p:spPr>
          <a:xfrm>
            <a:off x="6067416" y="2757794"/>
            <a:ext cx="2647931" cy="42863"/>
          </a:xfrm>
          <a:prstGeom prst="rect">
            <a:avLst/>
          </a:prstGeom>
          <a:solidFill>
            <a:srgbClr val="1E1E2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500" y="1923427"/>
            <a:ext cx="385763" cy="3429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41250" y="2409202"/>
            <a:ext cx="210026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RANKING E RECOMPENSAS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067416" y="2757794"/>
            <a:ext cx="2647931" cy="11144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1"/>
          <p:cNvSpPr/>
          <p:nvPr/>
        </p:nvSpPr>
        <p:spPr>
          <a:xfrm>
            <a:off x="6238866" y="2929244"/>
            <a:ext cx="230503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Sistema de pontuação e ranking que incentiva a competição saudável entre turistas e moradores locais nos tótens arcade.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748643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14375" y="428625"/>
            <a:ext cx="77152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i="1" dirty="0">
                <a:solidFill>
                  <a:srgbClr val="FF571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OS DIFERENCIAIS — A MAGIA DO NOSSO JOGO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428625" y="1062968"/>
            <a:ext cx="8286750" cy="497188"/>
          </a:xfrm>
          <a:prstGeom prst="rect">
            <a:avLst/>
          </a:prstGeom>
          <a:solidFill>
            <a:srgbClr val="1E1E24"/>
          </a:solidFill>
          <a:ln w="45720">
            <a:solidFill>
              <a:srgbClr val="54C6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4375" y="1148693"/>
            <a:ext cx="77152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i="1" spc="1" kern="0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O QUE TORNA O COME-COME DO FORRÓ IRRESISTÍVEL: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8625" y="1645881"/>
            <a:ext cx="2647931" cy="2237417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8625" y="1645881"/>
            <a:ext cx="2647931" cy="785813"/>
          </a:xfrm>
          <a:prstGeom prst="rect">
            <a:avLst/>
          </a:prstGeom>
          <a:solidFill>
            <a:srgbClr val="FF5714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2388831"/>
            <a:ext cx="2647931" cy="42863"/>
          </a:xfrm>
          <a:prstGeom prst="rect">
            <a:avLst/>
          </a:prstGeom>
          <a:solidFill>
            <a:srgbClr val="1E1E2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566" y="1817331"/>
            <a:ext cx="400050" cy="4000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70338" y="2531706"/>
            <a:ext cx="1764506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3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SOM DO VIDEOGAME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71500" y="2840310"/>
            <a:ext cx="236218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Trilha sonora marcante em versão chiptune de clássicos de Rogério, como "Sergipe é o País do Forró" — nostalgia que conecta gerações.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248006" y="1645881"/>
            <a:ext cx="2647959" cy="2237417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248006" y="1645881"/>
            <a:ext cx="2647959" cy="785813"/>
          </a:xfrm>
          <a:prstGeom prst="rect">
            <a:avLst/>
          </a:prstGeom>
          <a:solidFill>
            <a:srgbClr val="54C6EB"/>
          </a:solidFill>
          <a:ln/>
        </p:spPr>
      </p:sp>
      <p:sp>
        <p:nvSpPr>
          <p:cNvPr id="15" name="Shape 11"/>
          <p:cNvSpPr/>
          <p:nvPr/>
        </p:nvSpPr>
        <p:spPr>
          <a:xfrm>
            <a:off x="3248006" y="2388831"/>
            <a:ext cx="2647959" cy="42863"/>
          </a:xfrm>
          <a:prstGeom prst="rect">
            <a:avLst/>
          </a:prstGeom>
          <a:solidFill>
            <a:srgbClr val="1E1E2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944" y="1817331"/>
            <a:ext cx="450056" cy="4000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53120" y="2531706"/>
            <a:ext cx="1637705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3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PARADA CULTURAL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390881" y="2840310"/>
            <a:ext cx="236220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Telas informativas ao pausar e ao coletar itens especiais, revelando segredos históricos de Aracaju de forma lúdica e envolvente.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067416" y="1645881"/>
            <a:ext cx="2647931" cy="2237417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067416" y="1645881"/>
            <a:ext cx="2647931" cy="785813"/>
          </a:xfrm>
          <a:prstGeom prst="rect">
            <a:avLst/>
          </a:prstGeom>
          <a:solidFill>
            <a:srgbClr val="FF5714"/>
          </a:solidFill>
          <a:ln/>
        </p:spPr>
      </p:sp>
      <p:sp>
        <p:nvSpPr>
          <p:cNvPr id="21" name="Shape 16"/>
          <p:cNvSpPr/>
          <p:nvPr/>
        </p:nvSpPr>
        <p:spPr>
          <a:xfrm>
            <a:off x="6067416" y="2388831"/>
            <a:ext cx="2647931" cy="42863"/>
          </a:xfrm>
          <a:prstGeom prst="rect">
            <a:avLst/>
          </a:prstGeom>
          <a:solidFill>
            <a:srgbClr val="1E1E2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1363" y="1817331"/>
            <a:ext cx="300038" cy="4000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78805" y="2531706"/>
            <a:ext cx="1225153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3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VOZES LOCAIS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210291" y="2840310"/>
            <a:ext cx="236218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Dublagens e efeitos sonoros com sotaque autêntico sergipano e expressões típicas do nosso povo — identidade que emociona.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748643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14375" y="428625"/>
            <a:ext cx="77152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i="1" dirty="0">
                <a:solidFill>
                  <a:srgbClr val="FF571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MODELO DE NEGÓCIO — COMO GERAMOS VALOR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428625" y="1034393"/>
            <a:ext cx="8286750" cy="497188"/>
          </a:xfrm>
          <a:prstGeom prst="rect">
            <a:avLst/>
          </a:prstGeom>
          <a:solidFill>
            <a:srgbClr val="54C6EB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4375" y="1120118"/>
            <a:ext cx="77152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MÚLTIPLAS FONTES DE RECEITA E IMPACTO: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8625" y="1531581"/>
            <a:ext cx="4100513" cy="1332309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14350" y="1617306"/>
            <a:ext cx="342900" cy="342900"/>
          </a:xfrm>
          <a:prstGeom prst="rect">
            <a:avLst/>
          </a:prstGeom>
          <a:solidFill>
            <a:srgbClr val="FF5714"/>
          </a:solidFill>
          <a:ln w="27432">
            <a:solidFill>
              <a:srgbClr val="1E1E2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8" y="1688743"/>
            <a:ext cx="200025" cy="200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42975" y="1668735"/>
            <a:ext cx="2257425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Patrocínio Institucional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14350" y="2017356"/>
            <a:ext cx="392906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Secretarias de Turismo e Cultura de Sergipe financiam a instalação dos tótens.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14350" y="2545993"/>
            <a:ext cx="2025253" cy="232172"/>
          </a:xfrm>
          <a:prstGeom prst="rect">
            <a:avLst/>
          </a:prstGeom>
          <a:solidFill>
            <a:srgbClr val="1E1E2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2604929"/>
            <a:ext cx="121444" cy="114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8669" y="2588856"/>
            <a:ext cx="1675209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A0E8A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GOV ESTADUAL E MUNICIPAL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4614863" y="1531581"/>
            <a:ext cx="4100513" cy="1332309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700588" y="1617306"/>
            <a:ext cx="342900" cy="342900"/>
          </a:xfrm>
          <a:prstGeom prst="rect">
            <a:avLst/>
          </a:prstGeom>
          <a:solidFill>
            <a:srgbClr val="54C6EB"/>
          </a:solidFill>
          <a:ln w="27432">
            <a:solidFill>
              <a:srgbClr val="1E1E24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025" y="1688743"/>
            <a:ext cx="200025" cy="2000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29213" y="1668735"/>
            <a:ext cx="1984177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Publicidade In-Game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700588" y="2017356"/>
            <a:ext cx="39290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Marcas locais e regionais exibem anúncios e produtos dentro do jogo.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4700588" y="2460268"/>
            <a:ext cx="1832372" cy="232172"/>
          </a:xfrm>
          <a:prstGeom prst="rect">
            <a:avLst/>
          </a:prstGeom>
          <a:solidFill>
            <a:srgbClr val="1E1E24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2519204"/>
            <a:ext cx="121444" cy="1143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64906" y="2503131"/>
            <a:ext cx="148232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A0E8A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EMPRESAS E COMÉRCIOS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428625" y="2863890"/>
            <a:ext cx="4100513" cy="1139428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514350" y="2949615"/>
            <a:ext cx="342900" cy="342900"/>
          </a:xfrm>
          <a:prstGeom prst="rect">
            <a:avLst/>
          </a:prstGeom>
          <a:solidFill>
            <a:srgbClr val="54C6EB"/>
          </a:solidFill>
          <a:ln w="27432">
            <a:solidFill>
              <a:srgbClr val="1E1E24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88" y="3021053"/>
            <a:ext cx="200025" cy="20002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42975" y="3001045"/>
            <a:ext cx="1421606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Licenciamento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514350" y="3349665"/>
            <a:ext cx="392906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Licença do jogo para hotéis, shoppings e centros culturais.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514350" y="3685422"/>
            <a:ext cx="2357438" cy="232172"/>
          </a:xfrm>
          <a:prstGeom prst="rect">
            <a:avLst/>
          </a:prstGeom>
          <a:solidFill>
            <a:srgbClr val="1E1E24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075" y="3744357"/>
            <a:ext cx="121444" cy="1143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78669" y="3728284"/>
            <a:ext cx="200739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A0E8A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SETOR PRIVADO E HOSPITALIDADE</a:t>
            </a:r>
            <a:endParaRPr lang="en-US" sz="800" dirty="0"/>
          </a:p>
        </p:txBody>
      </p:sp>
      <p:sp>
        <p:nvSpPr>
          <p:cNvPr id="31" name="Shape 22"/>
          <p:cNvSpPr/>
          <p:nvPr/>
        </p:nvSpPr>
        <p:spPr>
          <a:xfrm>
            <a:off x="4614863" y="2863890"/>
            <a:ext cx="4100513" cy="1139428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4700588" y="2949615"/>
            <a:ext cx="342900" cy="342900"/>
          </a:xfrm>
          <a:prstGeom prst="rect">
            <a:avLst/>
          </a:prstGeom>
          <a:solidFill>
            <a:srgbClr val="FF5714"/>
          </a:solidFill>
          <a:ln w="27432">
            <a:solidFill>
              <a:srgbClr val="1E1E24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7022" y="3021053"/>
            <a:ext cx="250031" cy="20002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129213" y="3001045"/>
            <a:ext cx="1435894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Merchandising</a:t>
            </a:r>
            <a:endParaRPr lang="en-US" sz="1400" dirty="0"/>
          </a:p>
        </p:txBody>
      </p:sp>
      <p:sp>
        <p:nvSpPr>
          <p:cNvPr id="35" name="Text 25"/>
          <p:cNvSpPr/>
          <p:nvPr/>
        </p:nvSpPr>
        <p:spPr>
          <a:xfrm>
            <a:off x="4700588" y="3349665"/>
            <a:ext cx="39290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Produtos físicos temáticos (camisetas, adesivos, brindes).</a:t>
            </a:r>
            <a:endParaRPr lang="en-US" sz="900" dirty="0"/>
          </a:p>
        </p:txBody>
      </p:sp>
      <p:sp>
        <p:nvSpPr>
          <p:cNvPr id="36" name="Shape 26"/>
          <p:cNvSpPr/>
          <p:nvPr/>
        </p:nvSpPr>
        <p:spPr>
          <a:xfrm>
            <a:off x="4700588" y="3599697"/>
            <a:ext cx="2060972" cy="232172"/>
          </a:xfrm>
          <a:prstGeom prst="rect">
            <a:avLst/>
          </a:prstGeom>
          <a:solidFill>
            <a:srgbClr val="1E1E24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3658632"/>
            <a:ext cx="121444" cy="1143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964906" y="3642559"/>
            <a:ext cx="171092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A0E8A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TURISTAS E FÃS DA CULTURA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748643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14375" y="428625"/>
            <a:ext cx="77152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i="1" dirty="0">
                <a:solidFill>
                  <a:srgbClr val="FF571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MERCADO — O TAMANHO DA OPORTUNIDADE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428625" y="1062968"/>
            <a:ext cx="8286750" cy="512564"/>
          </a:xfrm>
          <a:prstGeom prst="rect">
            <a:avLst/>
          </a:prstGeom>
          <a:solidFill>
            <a:srgbClr val="54C6EB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4375" y="1148693"/>
            <a:ext cx="7715250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SERGIPE É O EPICENTRO DO FORRÓ BRASILEIRO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5825" y="1661257"/>
            <a:ext cx="2662191" cy="1397301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97167" y="1846994"/>
            <a:ext cx="153947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850" b="1" i="1" dirty="0">
                <a:solidFill>
                  <a:srgbClr val="FF571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600 MIL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578700" y="2332769"/>
            <a:ext cx="2376441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Pessoas atraídas por edição do Forró Caju, um dos maiores festivais do Brasil.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40891" y="1661257"/>
            <a:ext cx="2662191" cy="1397301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71872" y="1846994"/>
            <a:ext cx="16002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850" b="1" i="1" dirty="0">
                <a:solidFill>
                  <a:srgbClr val="54C6EB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R$ 1,2 BI</a:t>
            </a:r>
            <a:endParaRPr lang="en-US" sz="2850" dirty="0"/>
          </a:p>
        </p:txBody>
      </p:sp>
      <p:sp>
        <p:nvSpPr>
          <p:cNvPr id="12" name="Text 9"/>
          <p:cNvSpPr/>
          <p:nvPr/>
        </p:nvSpPr>
        <p:spPr>
          <a:xfrm>
            <a:off x="3383766" y="2332769"/>
            <a:ext cx="2376441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Movimentados por ano na economia local através do turismo cultural em Sergipe.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045957" y="1661257"/>
            <a:ext cx="2662191" cy="1397301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80560" y="1804132"/>
            <a:ext cx="79295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850" b="1" i="1" dirty="0">
                <a:solidFill>
                  <a:srgbClr val="FF571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68%</a:t>
            </a:r>
            <a:endParaRPr lang="en-US" sz="2850" dirty="0"/>
          </a:p>
        </p:txBody>
      </p:sp>
      <p:sp>
        <p:nvSpPr>
          <p:cNvPr id="15" name="Text 12"/>
          <p:cNvSpPr/>
          <p:nvPr/>
        </p:nvSpPr>
        <p:spPr>
          <a:xfrm>
            <a:off x="6188832" y="2289907"/>
            <a:ext cx="2376441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Do público dos festivais juninos sergipanos são jovens de 15 a 35 anos.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28625" y="3115707"/>
            <a:ext cx="4071938" cy="1217284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04727" y="3391440"/>
            <a:ext cx="719733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850" b="1" i="1" dirty="0">
                <a:solidFill>
                  <a:srgbClr val="54C6EB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12%</a:t>
            </a:r>
            <a:endParaRPr lang="en-US" sz="2850" dirty="0"/>
          </a:p>
        </p:txBody>
      </p:sp>
      <p:sp>
        <p:nvSpPr>
          <p:cNvPr id="18" name="Text 15"/>
          <p:cNvSpPr/>
          <p:nvPr/>
        </p:nvSpPr>
        <p:spPr>
          <a:xfrm>
            <a:off x="737592" y="3877215"/>
            <a:ext cx="345400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Crescimento anual da indústria global de jogos casuais.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43438" y="3115707"/>
            <a:ext cx="4071938" cy="1217284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47197" y="3258582"/>
            <a:ext cx="1064419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2850" b="1" i="1" dirty="0">
                <a:solidFill>
                  <a:srgbClr val="FF571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2,5 BI</a:t>
            </a:r>
            <a:endParaRPr lang="en-US" sz="2850" dirty="0"/>
          </a:p>
        </p:txBody>
      </p:sp>
      <p:sp>
        <p:nvSpPr>
          <p:cNvPr id="21" name="Text 18"/>
          <p:cNvSpPr/>
          <p:nvPr/>
        </p:nvSpPr>
        <p:spPr>
          <a:xfrm>
            <a:off x="4786313" y="3744357"/>
            <a:ext cx="37861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Jogadores ativos de jogos casuais no mundo, um mercado gigantesco.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691493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14375" y="400050"/>
            <a:ext cx="77152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i="1" dirty="0">
                <a:solidFill>
                  <a:srgbClr val="FF571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ROADMAP — O FORRÓ NÃO PARA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428625" y="1005818"/>
            <a:ext cx="8286750" cy="497188"/>
          </a:xfrm>
          <a:prstGeom prst="rect">
            <a:avLst/>
          </a:prstGeom>
          <a:solidFill>
            <a:srgbClr val="54C6EB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4375" y="1091543"/>
            <a:ext cx="77152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Da Orla de Atalaia para o Brasil: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143000" y="2045931"/>
            <a:ext cx="6858000" cy="57150"/>
          </a:xfrm>
          <a:prstGeom prst="rect">
            <a:avLst/>
          </a:prstGeom>
          <a:solidFill>
            <a:srgbClr val="1E1E24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703031"/>
            <a:ext cx="2647931" cy="2450976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69495" y="1874481"/>
            <a:ext cx="966192" cy="389334"/>
          </a:xfrm>
          <a:prstGeom prst="rect">
            <a:avLst/>
          </a:prstGeom>
          <a:solidFill>
            <a:srgbClr val="54C6EB"/>
          </a:solidFill>
          <a:ln w="27432">
            <a:solidFill>
              <a:srgbClr val="1E1E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69495" y="1874481"/>
            <a:ext cx="966192" cy="389334"/>
          </a:xfrm>
          <a:prstGeom prst="rect">
            <a:avLst/>
          </a:prstGeom>
          <a:noFill/>
          <a:ln/>
        </p:spPr>
        <p:txBody>
          <a:bodyPr wrap="none" lIns="170053" tIns="68072" rIns="170053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STAGE 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0014" y="2349540"/>
            <a:ext cx="1225153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Aracaju (Start)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0075" y="2669558"/>
            <a:ext cx="2305031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Instalação de tótens arcade nos principais portões turísticos de Aracaju: Orla de Atalaia, Mercado Municipal e aeroporto. Lançamento durante o Forró Caju e o Arraiá do Povo.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48006" y="1703031"/>
            <a:ext cx="2647959" cy="2450976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76374" y="1874481"/>
            <a:ext cx="991195" cy="389334"/>
          </a:xfrm>
          <a:prstGeom prst="rect">
            <a:avLst/>
          </a:prstGeom>
          <a:solidFill>
            <a:srgbClr val="A0E8AF"/>
          </a:solidFill>
          <a:ln w="27432">
            <a:solidFill>
              <a:srgbClr val="1E1E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76374" y="1874481"/>
            <a:ext cx="991195" cy="389334"/>
          </a:xfrm>
          <a:prstGeom prst="rect">
            <a:avLst/>
          </a:prstGeom>
          <a:noFill/>
          <a:ln/>
        </p:spPr>
        <p:txBody>
          <a:bodyPr wrap="none" lIns="170053" tIns="68072" rIns="170053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STAGE 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553988" y="2349540"/>
            <a:ext cx="2035969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Areia Branca (Next Step)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19456" y="2669558"/>
            <a:ext cx="2305059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Expansão com novos mapas temáticos da Capital do Milho. Mecânicas voltadas à colheita do milho e grandes festivais do interior sergipano.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67416" y="1703031"/>
            <a:ext cx="2647931" cy="2450976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94891" y="1874481"/>
            <a:ext cx="992981" cy="389334"/>
          </a:xfrm>
          <a:prstGeom prst="rect">
            <a:avLst/>
          </a:prstGeom>
          <a:solidFill>
            <a:srgbClr val="FF5714"/>
          </a:solidFill>
          <a:ln w="27432">
            <a:solidFill>
              <a:srgbClr val="1E1E2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94891" y="1874481"/>
            <a:ext cx="992981" cy="389334"/>
          </a:xfrm>
          <a:prstGeom prst="rect">
            <a:avLst/>
          </a:prstGeom>
          <a:noFill/>
          <a:ln/>
        </p:spPr>
        <p:txBody>
          <a:bodyPr wrap="none" lIns="170053" tIns="68072" rIns="170053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STAGE 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38866" y="2349540"/>
            <a:ext cx="230503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Sergipe Completo (Endgame)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38866" y="2875276"/>
            <a:ext cx="2305031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Presença em todos os principais municípios turísticos do estado, com versão mobile disponível para download gratuito e parcerias com o setor hoteleiro.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8286750" cy="691493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14375" y="400050"/>
            <a:ext cx="7715250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450" b="1" i="1" dirty="0">
                <a:solidFill>
                  <a:srgbClr val="FF571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TIME — QUEM ESTÁ POR TRÁS DO JOGO</a:t>
            </a:r>
            <a:endParaRPr lang="en-US" sz="2450" dirty="0"/>
          </a:p>
        </p:txBody>
      </p:sp>
      <p:sp>
        <p:nvSpPr>
          <p:cNvPr id="5" name="Shape 2"/>
          <p:cNvSpPr/>
          <p:nvPr/>
        </p:nvSpPr>
        <p:spPr>
          <a:xfrm>
            <a:off x="428625" y="1005818"/>
            <a:ext cx="8286750" cy="462893"/>
          </a:xfrm>
          <a:prstGeom prst="rect">
            <a:avLst/>
          </a:prstGeom>
          <a:solidFill>
            <a:srgbClr val="54C6EB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4375" y="1091543"/>
            <a:ext cx="77152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UMA EQUIPE APAIXONADA POR SERGIPE E POR TECNOLOGIA: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28625" y="1611585"/>
            <a:ext cx="4057650" cy="1148693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" y="1754460"/>
            <a:ext cx="571500" cy="571500"/>
          </a:xfrm>
          <a:prstGeom prst="rect">
            <a:avLst/>
          </a:prstGeom>
          <a:solidFill>
            <a:srgbClr val="FF5714"/>
          </a:solidFill>
          <a:ln w="27432">
            <a:solidFill>
              <a:srgbClr val="1E1E2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16" y="1911623"/>
            <a:ext cx="321469" cy="2571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5875" y="1754460"/>
            <a:ext cx="30575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Desenvolvimento de Jogo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285875" y="2017328"/>
            <a:ext cx="30575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Especialistas em game design com experiência em jogos casuais e arcade, comprometidos com a autenticidade cultural sergipana.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657725" y="1611585"/>
            <a:ext cx="4057650" cy="1148693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800600" y="1754460"/>
            <a:ext cx="571500" cy="571500"/>
          </a:xfrm>
          <a:prstGeom prst="rect">
            <a:avLst/>
          </a:prstGeom>
          <a:solidFill>
            <a:srgbClr val="54C6EB"/>
          </a:solidFill>
          <a:ln w="27432">
            <a:solidFill>
              <a:srgbClr val="1E1E2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763" y="1911623"/>
            <a:ext cx="257175" cy="2571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14975" y="1754460"/>
            <a:ext cx="30575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Design e Arte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514975" y="2017328"/>
            <a:ext cx="30575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Artistas locais que respiram a cultura nordestina e traduzem a estética junina em pixel art vibrante e memorável.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428625" y="2846003"/>
            <a:ext cx="4057650" cy="1148693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71500" y="2988878"/>
            <a:ext cx="571500" cy="571500"/>
          </a:xfrm>
          <a:prstGeom prst="rect">
            <a:avLst/>
          </a:prstGeom>
          <a:solidFill>
            <a:srgbClr val="FF5714"/>
          </a:solidFill>
          <a:ln w="27432">
            <a:solidFill>
              <a:srgbClr val="1E1E24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736" y="3146041"/>
            <a:ext cx="225028" cy="2571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5875" y="2988878"/>
            <a:ext cx="30575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Cultura e Conteúdo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285875" y="3251746"/>
            <a:ext cx="3057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Pesquisadores e produtores culturais que garantem a precisão histórica e a riqueza das narrativas do jogo.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4657725" y="2846003"/>
            <a:ext cx="4057650" cy="1148693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800600" y="2988878"/>
            <a:ext cx="571500" cy="571500"/>
          </a:xfrm>
          <a:prstGeom prst="rect">
            <a:avLst/>
          </a:prstGeom>
          <a:solidFill>
            <a:srgbClr val="54C6EB"/>
          </a:solidFill>
          <a:ln w="27432">
            <a:solidFill>
              <a:srgbClr val="1E1E24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5616" y="3146041"/>
            <a:ext cx="321469" cy="25717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14975" y="2988878"/>
            <a:ext cx="30575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i="1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Negócios e Parcerias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5514975" y="3251746"/>
            <a:ext cx="30575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Profissionais com experiência em captação de recursos, parcerias institucionais e gestão de projetos culturais.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714375" cy="714375"/>
          </a:xfrm>
          <a:prstGeom prst="rect">
            <a:avLst/>
          </a:prstGeom>
          <a:solidFill>
            <a:srgbClr val="FF5714"/>
          </a:solidFill>
          <a:ln w="45720">
            <a:solidFill>
              <a:srgbClr val="1E1E24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42" y="607219"/>
            <a:ext cx="267891" cy="35718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858125" y="4000500"/>
            <a:ext cx="714375" cy="714375"/>
          </a:xfrm>
          <a:prstGeom prst="ellipse">
            <a:avLst/>
          </a:prstGeom>
          <a:solidFill>
            <a:srgbClr val="54C6EB"/>
          </a:solidFill>
          <a:ln w="45720">
            <a:solidFill>
              <a:srgbClr val="1E1E24"/>
            </a:solidFill>
            <a:prstDash val="solid"/>
          </a:ln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070" y="4179094"/>
            <a:ext cx="446484" cy="35718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000125" y="455777"/>
            <a:ext cx="7143750" cy="4231946"/>
          </a:xfrm>
          <a:prstGeom prst="rect">
            <a:avLst/>
          </a:prstGeom>
          <a:solidFill>
            <a:srgbClr val="FFFFFF"/>
          </a:solidFill>
          <a:ln w="45720">
            <a:solidFill>
              <a:srgbClr val="1E1E24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2355652" y="927264"/>
            <a:ext cx="4432697" cy="660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4350" b="1" i="1" dirty="0">
                <a:solidFill>
                  <a:srgbClr val="FF571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VAMOS JOGAR?</a:t>
            </a:r>
            <a:endParaRPr lang="en-US" sz="4350" dirty="0"/>
          </a:p>
        </p:txBody>
      </p:sp>
      <p:sp>
        <p:nvSpPr>
          <p:cNvPr id="9" name="Text 4"/>
          <p:cNvSpPr/>
          <p:nvPr/>
        </p:nvSpPr>
        <p:spPr>
          <a:xfrm>
            <a:off x="1714500" y="1815936"/>
            <a:ext cx="5715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Faça parte da nossa jornada para transformar a cultura e o turismo de Sergipe em uma grande e divertida experiência!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714500" y="2558886"/>
            <a:ext cx="5715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1E24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Buscamos parceiros, patrocinadores e investidores que acreditam no poder da cultura nordestina para engajar, educar e encantar as novas gerações.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1262658" y="3673311"/>
            <a:ext cx="2564606" cy="542925"/>
          </a:xfrm>
          <a:prstGeom prst="rect">
            <a:avLst/>
          </a:prstGeom>
          <a:solidFill>
            <a:srgbClr val="1E1E24"/>
          </a:solidFill>
          <a:ln w="45720">
            <a:solidFill>
              <a:srgbClr val="54C6EB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120" y="3830473"/>
            <a:ext cx="200025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48445" y="3835831"/>
            <a:ext cx="1707356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@comecomedoforro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3955852" y="3673311"/>
            <a:ext cx="3882628" cy="542925"/>
          </a:xfrm>
          <a:prstGeom prst="rect">
            <a:avLst/>
          </a:prstGeom>
          <a:solidFill>
            <a:srgbClr val="1E1E24"/>
          </a:solidFill>
          <a:ln w="45720">
            <a:solidFill>
              <a:srgbClr val="FF5714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7314" y="3830473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70214" y="3835831"/>
            <a:ext cx="299680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contato@comecomedoforro.com.br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2026-05-17T02:31:21Z</dcterms:created>
  <dcterms:modified xsi:type="dcterms:W3CDTF">2026-05-17T02:31:21Z</dcterms:modified>
</cp:coreProperties>
</file>